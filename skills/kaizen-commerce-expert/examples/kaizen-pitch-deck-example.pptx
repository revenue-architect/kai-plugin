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406640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56931" y="0"/>
            <a:ext cx="4734763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F7F9"/>
                </a:solidFill>
                <a:latin typeface="Hanken Grotesk"/>
              </a:rPr>
              <a:t>KaizenCommerce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3840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9396"/>
                </a:solidFill>
                <a:latin typeface="Hanken Grotesk"/>
              </a:rPr>
              <a:t>Shopify POS Migration Specialists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6492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00"/>
              </a:lnSpc>
            </a:pPr>
            <a:r>
              <a:rPr sz="3600" b="0" i="1">
                <a:solidFill>
                  <a:srgbClr val="F5F7F9"/>
                </a:solidFill>
                <a:latin typeface="EB Garamond"/>
              </a:rPr>
              <a:t>Your stores are running.</a:t>
            </a:r>
          </a:p>
          <a:p>
            <a:pPr algn="l">
              <a:lnSpc>
                <a:spcPts val="5000"/>
              </a:lnSpc>
            </a:pPr>
            <a:r>
              <a:rPr sz="3600" b="0" i="1">
                <a:solidFill>
                  <a:srgbClr val="A8201A"/>
                </a:solidFill>
                <a:latin typeface="EB Garamond"/>
              </a:rPr>
              <a:t>Your systems aren't.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224528"/>
            <a:ext cx="2743200" cy="12700"/>
          </a:xfrm>
          <a:prstGeom prst="rect">
            <a:avLst/>
          </a:prstGeom>
          <a:solidFill>
            <a:srgbClr val="525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37083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09396"/>
                </a:solidFill>
                <a:latin typeface="Hanken Grotesk"/>
              </a:rPr>
              <a:t>Blueprint first. Cutover second.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0979" y="749808"/>
            <a:ext cx="42318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298AA"/>
                </a:solidFill>
                <a:latin typeface="Hanken Grotesk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0979" y="1060704"/>
            <a:ext cx="4231843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 b="0" i="0">
                <a:solidFill>
                  <a:srgbClr val="F5F7F9"/>
                </a:solidFill>
                <a:latin typeface="Hanken Grotesk"/>
              </a:rPr>
              <a:t>Every gap your pre-migration checklist missed shows up on go-live day — mismatched products, broken workflows, gift cards that don't transfer.</a:t>
            </a:r>
          </a:p>
          <a:p>
            <a:pPr algn="l">
              <a:lnSpc>
                <a:spcPts val="1600"/>
              </a:lnSpc>
            </a:pPr>
            <a:r>
              <a:rPr sz="500" b="0" i="0">
                <a:solidFill>
                  <a:srgbClr val="F5F7F9"/>
                </a:solidFill>
                <a:latin typeface="Hanken Grotesk"/>
              </a:rPr>
              <a:t/>
            </a:r>
          </a:p>
          <a:p>
            <a:pPr algn="l">
              <a:lnSpc>
                <a:spcPts val="1600"/>
              </a:lnSpc>
            </a:pPr>
            <a:r>
              <a:rPr sz="1000" b="1" i="0">
                <a:solidFill>
                  <a:srgbClr val="AACCDB"/>
                </a:solidFill>
                <a:latin typeface="Hanken Grotesk"/>
              </a:rPr>
              <a:t>We prevent that.</a:t>
            </a:r>
          </a:p>
          <a:p>
            <a:pPr algn="l">
              <a:lnSpc>
                <a:spcPts val="1600"/>
              </a:lnSpc>
            </a:pPr>
            <a:r>
              <a:rPr sz="500" b="0" i="0">
                <a:solidFill>
                  <a:srgbClr val="F5F7F9"/>
                </a:solidFill>
                <a:latin typeface="Hanken Grotesk"/>
              </a:rPr>
              <a:t/>
            </a:r>
          </a:p>
          <a:p>
            <a:pPr algn="l">
              <a:lnSpc>
                <a:spcPts val="1600"/>
              </a:lnSpc>
            </a:pPr>
            <a:r>
              <a:rPr sz="1000" b="0" i="1">
                <a:solidFill>
                  <a:srgbClr val="909396"/>
                </a:solidFill>
                <a:latin typeface="Hanken Grotesk"/>
              </a:rPr>
              <a:t>Led by ex-Shopify retail operators who've seen it from the inside.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40979" y="4919472"/>
            <a:ext cx="1355750" cy="1170432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87283" y="5102352"/>
            <a:ext cx="106314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1">
                <a:solidFill>
                  <a:srgbClr val="F5F7F9"/>
                </a:solidFill>
                <a:latin typeface="EB Garamond"/>
              </a:rPr>
              <a:t>200+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87283" y="5577840"/>
            <a:ext cx="106314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396"/>
                </a:solidFill>
                <a:latin typeface="Hanken Grotesk"/>
              </a:rPr>
              <a:t>migrations 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79026" y="4919472"/>
            <a:ext cx="1355750" cy="1170432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25330" y="5102352"/>
            <a:ext cx="106314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1">
                <a:solidFill>
                  <a:srgbClr val="F5F7F9"/>
                </a:solidFill>
                <a:latin typeface="EB Garamond"/>
              </a:rPr>
              <a:t>&lt; 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25330" y="5577840"/>
            <a:ext cx="106314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396"/>
                </a:solidFill>
                <a:latin typeface="Hanken Grotesk"/>
              </a:rPr>
              <a:t>go-live failures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17072" y="4919472"/>
            <a:ext cx="1355750" cy="1170432"/>
          </a:xfrm>
          <a:prstGeom prst="rect">
            <a:avLst/>
          </a:prstGeom>
          <a:solidFill>
            <a:srgbClr val="0A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63376" y="5102352"/>
            <a:ext cx="106314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1">
                <a:solidFill>
                  <a:srgbClr val="F5F7F9"/>
                </a:solidFill>
                <a:latin typeface="EB Garamond"/>
              </a:rPr>
              <a:t>7 days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63376" y="5577840"/>
            <a:ext cx="106314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396"/>
                </a:solidFill>
                <a:latin typeface="Hanken Grotesk"/>
              </a:rPr>
              <a:t>to blueprint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34495" y="658368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25456"/>
                </a:solidFill>
                <a:latin typeface="Hanken Grotesk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A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90772" y="0"/>
            <a:ext cx="8300923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3200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7A77"/>
                </a:solidFill>
                <a:latin typeface="Hanken Grotesk"/>
              </a:rPr>
              <a:t>THE COST OF A BAD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1">
                <a:solidFill>
                  <a:srgbClr val="F5F7F9"/>
                </a:solidFill>
                <a:latin typeface="EB Garamond"/>
              </a:rPr>
              <a:t>$30K–$80K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84708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0BBB9"/>
                </a:solidFill>
                <a:latin typeface="Hanken Grotesk"/>
              </a:rPr>
              <a:t>average recovery cost per botched retail POS migration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304288"/>
            <a:ext cx="3200400" cy="12700"/>
          </a:xfrm>
          <a:prstGeom prst="rect">
            <a:avLst/>
          </a:prstGeom>
          <a:solidFill>
            <a:srgbClr val="C05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487168"/>
            <a:ext cx="3383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50" b="0" i="0">
                <a:solidFill>
                  <a:srgbClr val="F0BBB9"/>
                </a:solidFill>
                <a:latin typeface="Hanken Grotesk"/>
              </a:rPr>
              <a:t>Downtime. Manual workarounds. Angry store staff.</a:t>
            </a:r>
          </a:p>
          <a:p>
            <a:pPr algn="l">
              <a:lnSpc>
                <a:spcPts val="1500"/>
              </a:lnSpc>
            </a:pPr>
            <a:r>
              <a:rPr sz="500" b="0" i="0">
                <a:solidFill>
                  <a:srgbClr val="F5F7F9"/>
                </a:solidFill>
                <a:latin typeface="Hanken Grotesk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950" b="0" i="0">
                <a:solidFill>
                  <a:srgbClr val="F0BBB9"/>
                </a:solidFill>
                <a:latin typeface="Hanken Grotesk"/>
              </a:rPr>
              <a:t>Inventory frozen for days while you reconcile what the old system exported and what Shopify actually imported.</a:t>
            </a:r>
          </a:p>
          <a:p>
            <a:pPr algn="l">
              <a:lnSpc>
                <a:spcPts val="1500"/>
              </a:lnSpc>
            </a:pPr>
            <a:r>
              <a:rPr sz="500" b="0" i="0">
                <a:solidFill>
                  <a:srgbClr val="F5F7F9"/>
                </a:solidFill>
                <a:latin typeface="Hanken Grotesk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950" b="0" i="0">
                <a:solidFill>
                  <a:srgbClr val="F0BBB9"/>
                </a:solidFill>
                <a:latin typeface="Hanken Grotesk"/>
              </a:rPr>
              <a:t>Leadership asking if you can roll back. You can't.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7972" y="475488"/>
            <a:ext cx="766084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88B8E"/>
                </a:solidFill>
                <a:latin typeface="Hanken Grotesk"/>
              </a:rPr>
              <a:t>WHERE MIGRATIONS FAIL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83380" y="1078992"/>
            <a:ext cx="8191195" cy="36576"/>
          </a:xfrm>
          <a:prstGeom prst="rect">
            <a:avLst/>
          </a:prstGeom>
          <a:solidFill>
            <a:srgbClr val="A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7972" y="1170432"/>
            <a:ext cx="76608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0E0E"/>
                </a:solidFill>
                <a:latin typeface="Hanken Grotesk"/>
              </a:rPr>
              <a:t>Data integrity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7972" y="1472184"/>
            <a:ext cx="76608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548"/>
                </a:solidFill>
                <a:latin typeface="Hanken Grotesk"/>
              </a:rPr>
              <a:t>Products, variants, and inventory quantities that looked fine in staging don't survive the format conversion. Shopify and legacy POS systems don't speak the same schema.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3380" y="2505456"/>
            <a:ext cx="8191195" cy="36576"/>
          </a:xfrm>
          <a:prstGeom prst="rect">
            <a:avLst/>
          </a:prstGeom>
          <a:solidFill>
            <a:srgbClr val="A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7972" y="2596896"/>
            <a:ext cx="76608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0E0E"/>
                </a:solidFill>
                <a:latin typeface="Hanken Grotesk"/>
              </a:rPr>
              <a:t>Workflow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7972" y="2898648"/>
            <a:ext cx="76608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548"/>
                </a:solidFill>
                <a:latin typeface="Hanken Grotesk"/>
              </a:rPr>
              <a:t>Gift cards, loyalty points, B2B accounts, and staff permissions live outside the standard export. Nobody maps them until go-live — when the register throws an error.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3380" y="3931920"/>
            <a:ext cx="8191195" cy="36576"/>
          </a:xfrm>
          <a:prstGeom prst="rect">
            <a:avLst/>
          </a:prstGeom>
          <a:solidFill>
            <a:srgbClr val="A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7972" y="4023360"/>
            <a:ext cx="766084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0E0E"/>
                </a:solidFill>
                <a:latin typeface="Hanken Grotesk"/>
              </a:rPr>
              <a:t>Timeline compression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7972" y="4325112"/>
            <a:ext cx="766084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24548"/>
                </a:solidFill>
                <a:latin typeface="Hanken Grotesk"/>
              </a:rPr>
              <a:t>IT locks the cutover window. Go-live pressure forces teams to skip validation steps. Issues surface when the floor is open, not in a test environment.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34495" y="658368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B8E"/>
                </a:solidFill>
                <a:latin typeface="Hanken Grotesk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256531" y="0"/>
            <a:ext cx="7935163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365759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298AA"/>
                </a:solidFill>
                <a:latin typeface="Hanken Grotesk"/>
              </a:rP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60120"/>
            <a:ext cx="3703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00"/>
              </a:lnSpc>
            </a:pPr>
            <a:r>
              <a:rPr sz="3400" b="0" i="1">
                <a:solidFill>
                  <a:srgbClr val="F5F7F9"/>
                </a:solidFill>
                <a:latin typeface="EB Garamond"/>
              </a:rPr>
              <a:t>Ex-Shopify
Retail Operators.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2450592"/>
            <a:ext cx="3566159" cy="12700"/>
          </a:xfrm>
          <a:prstGeom prst="rect">
            <a:avLst/>
          </a:prstGeom>
          <a:solidFill>
            <a:srgbClr val="729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2633472"/>
            <a:ext cx="3703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950" b="0" i="0">
                <a:solidFill>
                  <a:srgbClr val="F5F7F9"/>
                </a:solidFill>
                <a:latin typeface="Hanken Grotesk"/>
              </a:rPr>
              <a:t>We built and managed retail operations on Shopify before we advised on them. That means we know where the platform bends — and where it breaks.</a:t>
            </a:r>
          </a:p>
          <a:p>
            <a:pPr algn="l">
              <a:lnSpc>
                <a:spcPts val="1500"/>
              </a:lnSpc>
            </a:pPr>
            <a:r>
              <a:rPr sz="500" b="0" i="0">
                <a:solidFill>
                  <a:srgbClr val="F5F7F9"/>
                </a:solidFill>
                <a:latin typeface="Hanken Grotesk"/>
              </a:rPr>
              <a:t/>
            </a:r>
          </a:p>
          <a:p>
            <a:pPr algn="l">
              <a:lnSpc>
                <a:spcPts val="1500"/>
              </a:lnSpc>
            </a:pPr>
            <a:r>
              <a:rPr sz="950" b="0" i="0">
                <a:solidFill>
                  <a:srgbClr val="9BBCCA"/>
                </a:solidFill>
                <a:latin typeface="Hanken Grotesk"/>
              </a:rPr>
              <a:t>No generalist IT consultants. No offshore dev shops. Every engagement is led by someone who has personally stood at a register during a go-live.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13731" y="475488"/>
            <a:ext cx="729508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25456"/>
                </a:solidFill>
                <a:latin typeface="Hanken Grotesk"/>
              </a:rPr>
              <a:t>WHAT SETS US APART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49140" y="1060704"/>
            <a:ext cx="36576" cy="1188720"/>
          </a:xfrm>
          <a:prstGeom prst="rect">
            <a:avLst/>
          </a:prstGeom>
          <a:solidFill>
            <a:srgbClr val="AAC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3731" y="1170432"/>
            <a:ext cx="72950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CCDB"/>
                </a:solidFill>
                <a:latin typeface="Hanken Grotesk"/>
              </a:rPr>
              <a:t>Blueprint-first 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3731" y="1472184"/>
            <a:ext cx="72950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396"/>
                </a:solidFill>
                <a:latin typeface="Hanken Grotesk"/>
              </a:rPr>
              <a:t>We deliver a written migration blueprint before any technical work begins. You know the full scope, risk surface, and rollback plan before a single product is imported.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49140" y="2450591"/>
            <a:ext cx="36576" cy="1188720"/>
          </a:xfrm>
          <a:prstGeom prst="rect">
            <a:avLst/>
          </a:prstGeom>
          <a:solidFill>
            <a:srgbClr val="AAC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3731" y="2560320"/>
            <a:ext cx="72950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CCDB"/>
                </a:solidFill>
                <a:latin typeface="Hanken Grotesk"/>
              </a:rPr>
              <a:t>Retail-native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3731" y="2862072"/>
            <a:ext cx="72950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396"/>
                </a:solidFill>
                <a:latin typeface="Hanken Grotesk"/>
              </a:rPr>
              <a:t>Our QA checklist covers 140+ retail-specific scenarios: gift cards, loyalty, staff permissions, multi-location inventory, B2B pricing, and reporting parity.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9140" y="3840480"/>
            <a:ext cx="36576" cy="1188720"/>
          </a:xfrm>
          <a:prstGeom prst="rect">
            <a:avLst/>
          </a:prstGeom>
          <a:solidFill>
            <a:srgbClr val="AACC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13731" y="3950208"/>
            <a:ext cx="729508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ACCDB"/>
                </a:solidFill>
                <a:latin typeface="Hanken Grotesk"/>
              </a:rPr>
              <a:t>Credited toward full 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13731" y="4251960"/>
            <a:ext cx="7295083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09396"/>
                </a:solidFill>
                <a:latin typeface="Hanken Grotesk"/>
              </a:rPr>
              <a:t>The $1,000 blueprint fee applies in full to any Gold or Diamond engagement. You're not paying to be sold — you're paying to know what you're buying.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34495" y="658368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25456"/>
                </a:solidFill>
                <a:latin typeface="Hanken Grotesk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F5F7F9"/>
                </a:solidFill>
                <a:latin typeface="EB Garamond"/>
              </a:rPr>
              <a:t>Blueprint first. Cutover second.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298AA"/>
                </a:solidFill>
                <a:latin typeface="Hanken Grotesk"/>
              </a:rPr>
              <a:t>THE KAIZENCOMMERCE METHOD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91695" cy="12700"/>
          </a:xfrm>
          <a:prstGeom prst="rect">
            <a:avLst/>
          </a:prstGeom>
          <a:solidFill>
            <a:srgbClr val="D0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758744" cy="5239512"/>
          </a:xfrm>
          <a:prstGeom prst="rect">
            <a:avLst/>
          </a:prstGeom>
          <a:solidFill>
            <a:srgbClr val="C8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2758744" cy="91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435608"/>
            <a:ext cx="23929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0D1B2A"/>
                </a:solidFill>
                <a:latin typeface="EB Garamon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1856232"/>
            <a:ext cx="2392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  <a:latin typeface="Hanken Grotesk"/>
              </a:rPr>
              <a:t>DIAGNOSE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2167128"/>
            <a:ext cx="2356408" cy="12700"/>
          </a:xfrm>
          <a:prstGeom prst="rect">
            <a:avLst/>
          </a:prstGeom>
          <a:solidFill>
            <a:srgbClr val="D0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295144"/>
            <a:ext cx="2356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548"/>
                </a:solidFill>
                <a:latin typeface="Hanken Grotesk"/>
              </a:rPr>
              <a:t>Structured discovery across your current POS, product catalogue, inventory, integrations, and staff workflows.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319272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Current system 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657600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Data schema mapping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995928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Integration 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334256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Staff workflow review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1956" y="1234440"/>
            <a:ext cx="2758744" cy="5239512"/>
          </a:xfrm>
          <a:prstGeom prst="rect">
            <a:avLst/>
          </a:prstGeom>
          <a:solidFill>
            <a:srgbClr val="C8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11956" y="1234440"/>
            <a:ext cx="2758744" cy="91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3124" y="1435608"/>
            <a:ext cx="23929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0D1B2A"/>
                </a:solidFill>
                <a:latin typeface="EB Garamon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3124" y="1856232"/>
            <a:ext cx="2392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  <a:latin typeface="Hanken Grotesk"/>
              </a:rPr>
              <a:t>ARCHITECT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13124" y="2167128"/>
            <a:ext cx="2356408" cy="12700"/>
          </a:xfrm>
          <a:prstGeom prst="rect">
            <a:avLst/>
          </a:prstGeom>
          <a:solidFill>
            <a:srgbClr val="D0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13124" y="2295144"/>
            <a:ext cx="2356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548"/>
                </a:solidFill>
                <a:latin typeface="Hanken Grotesk"/>
              </a:rPr>
              <a:t>We design the target-state Shopify POS configuration and write the full migration blueprint with risk register.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3124" y="3319272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Target-state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3124" y="3657600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Risk register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3124" y="3995928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Rollback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13124" y="4334256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Go/No-go criteria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0993" y="1234440"/>
            <a:ext cx="2758744" cy="5239512"/>
          </a:xfrm>
          <a:prstGeom prst="rect">
            <a:avLst/>
          </a:prstGeom>
          <a:solidFill>
            <a:srgbClr val="C8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0993" y="1234440"/>
            <a:ext cx="2758744" cy="91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22161" y="1435608"/>
            <a:ext cx="23929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0D1B2A"/>
                </a:solidFill>
                <a:latin typeface="EB Garamond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2161" y="1856232"/>
            <a:ext cx="2392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  <a:latin typeface="Hanken Grotesk"/>
              </a:rPr>
              <a:t>VALIDATE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2161" y="2167128"/>
            <a:ext cx="2356408" cy="12700"/>
          </a:xfrm>
          <a:prstGeom prst="rect">
            <a:avLst/>
          </a:prstGeom>
          <a:solidFill>
            <a:srgbClr val="D0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2161" y="2295144"/>
            <a:ext cx="2356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548"/>
                </a:solidFill>
                <a:latin typeface="Hanken Grotesk"/>
              </a:rPr>
              <a:t>Parallel environment testing against 140+ retail scenarios before any production cutover is approved.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22161" y="3319272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140+ scenario QA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22161" y="3657600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Register walkthroughs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22161" y="3995928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Gift card &amp; loyalty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2161" y="4334256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Reporting parity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30030" y="1234440"/>
            <a:ext cx="2758744" cy="5239512"/>
          </a:xfrm>
          <a:prstGeom prst="rect">
            <a:avLst/>
          </a:prstGeom>
          <a:solidFill>
            <a:srgbClr val="C8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930030" y="1234440"/>
            <a:ext cx="2758744" cy="914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31198" y="1435608"/>
            <a:ext cx="23929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1">
                <a:solidFill>
                  <a:srgbClr val="0D1B2A"/>
                </a:solidFill>
                <a:latin typeface="EB Garamond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31198" y="1856232"/>
            <a:ext cx="23929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  <a:latin typeface="Hanken Grotesk"/>
              </a:rPr>
              <a:t>SCALE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31198" y="2167128"/>
            <a:ext cx="2356408" cy="12700"/>
          </a:xfrm>
          <a:prstGeom prst="rect">
            <a:avLst/>
          </a:prstGeom>
          <a:solidFill>
            <a:srgbClr val="D0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31198" y="2295144"/>
            <a:ext cx="23564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548"/>
                </a:solidFill>
                <a:latin typeface="Hanken Grotesk"/>
              </a:rPr>
              <a:t>Post-cutover stabilisation, staff training, and hypercare support through your first full trading week.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31198" y="3319272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Go-live oversight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31198" y="3657600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Floor-hour 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31198" y="3995928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Staff certification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31198" y="4334256"/>
            <a:ext cx="23564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A4A5E"/>
                </a:solidFill>
                <a:latin typeface="Hanken Grotesk"/>
              </a:rPr>
              <a:t>–  30-day hypercare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34495" y="658368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B8E"/>
                </a:solidFill>
                <a:latin typeface="Hanken Grotesk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F5F7F9"/>
                </a:solidFill>
                <a:latin typeface="EB Garamond"/>
              </a:rPr>
              <a:t>The Blueprint Deliverable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25456"/>
                </a:solidFill>
                <a:latin typeface="Hanken Grotesk"/>
              </a:rPr>
              <a:t>WHAT YOU RECEIVE IN 7 BUSINESS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70432"/>
            <a:ext cx="3695090" cy="4206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408176"/>
            <a:ext cx="32561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5F7F9"/>
                </a:solidFill>
                <a:latin typeface="EB Garamond"/>
              </a:rPr>
              <a:t>System Map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1847088"/>
            <a:ext cx="3256178" cy="12700"/>
          </a:xfrm>
          <a:prstGeom prst="rect">
            <a:avLst/>
          </a:prstGeom>
          <a:solidFill>
            <a:srgbClr val="525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975104"/>
            <a:ext cx="325617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9396"/>
                </a:solidFill>
                <a:latin typeface="Hanken Grotesk"/>
              </a:rPr>
              <a:t>A full technical map of your current POS environment: products, variants, inventory locations, integrations, and data relationships in Shopify's schema.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090672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7F9"/>
                </a:solidFill>
                <a:latin typeface="Hanken Grotesk"/>
              </a:rPr>
              <a:t>–  Product &amp; variant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419856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7F9"/>
                </a:solidFill>
                <a:latin typeface="Hanken Grotesk"/>
              </a:rPr>
              <a:t>–  Inventory location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749039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7F9"/>
                </a:solidFill>
                <a:latin typeface="Hanken Grotesk"/>
              </a:rPr>
              <a:t>–  Integration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4078224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7F9"/>
                </a:solidFill>
                <a:latin typeface="Hanken Grotesk"/>
              </a:rPr>
              <a:t>–  Data gap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302" y="1170432"/>
            <a:ext cx="3695090" cy="420624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7758" y="1408176"/>
            <a:ext cx="32561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5F7F9"/>
                </a:solidFill>
                <a:latin typeface="EB Garamond"/>
              </a:rPr>
              <a:t>Risk Register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67758" y="1847088"/>
            <a:ext cx="3256178" cy="12700"/>
          </a:xfrm>
          <a:prstGeom prst="rect">
            <a:avLst/>
          </a:prstGeom>
          <a:solidFill>
            <a:srgbClr val="525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7758" y="1975104"/>
            <a:ext cx="325617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9396"/>
                </a:solidFill>
                <a:latin typeface="Hanken Grotesk"/>
              </a:rPr>
              <a:t>Every identified migration risk, ranked by severity, with recommended mitigation and the estimated effort to resolve before cutover is approved.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7758" y="3090672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7F9"/>
                </a:solidFill>
                <a:latin typeface="Hanken Grotesk"/>
              </a:rPr>
              <a:t>–  Risk severity 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7758" y="3419856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7F9"/>
                </a:solidFill>
                <a:latin typeface="Hanken Grotesk"/>
              </a:rPr>
              <a:t>–  Mitigation recommendations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7758" y="3749039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7F9"/>
                </a:solidFill>
                <a:latin typeface="Hanken Grotesk"/>
              </a:rPr>
              <a:t>–  Effort estimates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7758" y="4078224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7F9"/>
                </a:solidFill>
                <a:latin typeface="Hanken Grotesk"/>
              </a:rPr>
              <a:t>–  Go/No-go checklist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3684" y="1170432"/>
            <a:ext cx="3695090" cy="4206240"/>
          </a:xfrm>
          <a:prstGeom prst="rect">
            <a:avLst/>
          </a:prstGeom>
          <a:solidFill>
            <a:srgbClr val="0E0E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3140" y="1408176"/>
            <a:ext cx="32561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>
                <a:solidFill>
                  <a:srgbClr val="F5F7F9"/>
                </a:solidFill>
                <a:latin typeface="EB Garamond"/>
              </a:rPr>
              <a:t>Rollout Path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13140" y="1847088"/>
            <a:ext cx="3256178" cy="12700"/>
          </a:xfrm>
          <a:prstGeom prst="rect">
            <a:avLst/>
          </a:prstGeom>
          <a:solidFill>
            <a:srgbClr val="525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3140" y="1975104"/>
            <a:ext cx="325617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9396"/>
                </a:solidFill>
                <a:latin typeface="Hanken Grotesk"/>
              </a:rPr>
              <a:t>A sequenced cutover plan with timing windows, staff assignments, validation checkpoints, and a tested rollback procedure for every phase.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3140" y="3090672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7F9"/>
                </a:solidFill>
                <a:latin typeface="Hanken Grotesk"/>
              </a:rPr>
              <a:t>–  Phased cutover sequence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13140" y="3419856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7F9"/>
                </a:solidFill>
                <a:latin typeface="Hanken Grotesk"/>
              </a:rPr>
              <a:t>–  Staff role assignments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3140" y="3749039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7F9"/>
                </a:solidFill>
                <a:latin typeface="Hanken Grotesk"/>
              </a:rPr>
              <a:t>–  Validation checkpoints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3140" y="4078224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7F9"/>
                </a:solidFill>
                <a:latin typeface="Hanken Grotesk"/>
              </a:rPr>
              <a:t>–  Tested rollback 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5596128"/>
            <a:ext cx="12191695" cy="1078992"/>
          </a:xfrm>
          <a:prstGeom prst="rect">
            <a:avLst/>
          </a:prstGeom>
          <a:solidFill>
            <a:srgbClr val="A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50" y="5779008"/>
            <a:ext cx="23164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5F7F9"/>
                </a:solidFill>
                <a:latin typeface="EB Garamond"/>
              </a:rPr>
              <a:t>$1,000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50" y="6163056"/>
            <a:ext cx="231642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47A77"/>
                </a:solidFill>
                <a:latin typeface="Hanken Grotesk"/>
              </a:rPr>
              <a:t>fixed fee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13674" y="5779008"/>
            <a:ext cx="23164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5F7F9"/>
                </a:solidFill>
                <a:latin typeface="EB Garamond"/>
              </a:rPr>
              <a:t>7 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13674" y="6163056"/>
            <a:ext cx="231642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47A77"/>
                </a:solidFill>
                <a:latin typeface="Hanken Grotesk"/>
              </a:rPr>
              <a:t>turnaround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61598" y="5779008"/>
            <a:ext cx="23164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5F7F9"/>
                </a:solidFill>
                <a:latin typeface="EB Garamond"/>
              </a:rPr>
              <a:t>Written 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61598" y="6163056"/>
            <a:ext cx="231642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47A77"/>
                </a:solidFill>
                <a:latin typeface="Hanken Grotesk"/>
              </a:rPr>
              <a:t>PDF + working files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522" y="5779008"/>
            <a:ext cx="231642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5F7F9"/>
                </a:solidFill>
                <a:latin typeface="EB Garamond"/>
              </a:rPr>
              <a:t>Credited 100%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522" y="6163056"/>
            <a:ext cx="231642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47A77"/>
                </a:solidFill>
                <a:latin typeface="Hanken Grotesk"/>
              </a:rPr>
              <a:t>toward Gold or Diamond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34495" y="658368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25456"/>
                </a:solidFill>
                <a:latin typeface="Hanken Grotesk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1">
                <a:solidFill>
                  <a:srgbClr val="F5F7F9"/>
                </a:solidFill>
                <a:latin typeface="EB Garamond"/>
              </a:rPr>
              <a:t>Engagement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9494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298AA"/>
                </a:solidFill>
                <a:latin typeface="Hanken Grotesk"/>
              </a:rPr>
              <a:t>CHOOSE THE DEPTH YOUR MIGRATION REQUIRES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24128"/>
            <a:ext cx="12191695" cy="12700"/>
          </a:xfrm>
          <a:prstGeom prst="rect">
            <a:avLst/>
          </a:prstGeom>
          <a:solidFill>
            <a:srgbClr val="D0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695090" cy="5212080"/>
          </a:xfrm>
          <a:prstGeom prst="rect">
            <a:avLst/>
          </a:prstGeom>
          <a:solidFill>
            <a:srgbClr val="E4E8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3695090" cy="12700"/>
          </a:xfrm>
          <a:prstGeom prst="rect">
            <a:avLst/>
          </a:prstGeom>
          <a:solidFill>
            <a:srgbClr val="D0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426464"/>
            <a:ext cx="32561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0D1B2A"/>
                </a:solidFill>
                <a:latin typeface="EB Garamond"/>
              </a:rPr>
              <a:t>Silver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810512"/>
            <a:ext cx="325617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24548"/>
                </a:solidFill>
                <a:latin typeface="Hanken Grotesk"/>
              </a:rPr>
              <a:t>Blueprint + Advisory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" y="2121408"/>
            <a:ext cx="3256178" cy="12700"/>
          </a:xfrm>
          <a:prstGeom prst="rect">
            <a:avLst/>
          </a:prstGeom>
          <a:solidFill>
            <a:srgbClr val="D0D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2249424"/>
            <a:ext cx="325617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24548"/>
                </a:solidFill>
                <a:latin typeface="Hanken Grotesk"/>
              </a:rPr>
              <a:t>For teams handling execution in-house who need an expert-written plan and a technical advisor on call through the cutover window.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218688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E0E0E"/>
                </a:solidFill>
                <a:latin typeface="Hanken Grotesk"/>
              </a:rPr>
              <a:t>–  Full migration blueprint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3557016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E0E0E"/>
                </a:solidFill>
                <a:latin typeface="Hanken Grotesk"/>
              </a:rPr>
              <a:t>–  Risk register + rollback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" y="3895344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E0E0E"/>
                </a:solidFill>
                <a:latin typeface="Hanken Grotesk"/>
              </a:rPr>
              <a:t>–  3 advisory 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4233672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E0E0E"/>
                </a:solidFill>
                <a:latin typeface="Hanken Grotesk"/>
              </a:rPr>
              <a:t>–  Go-live day support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5596128"/>
            <a:ext cx="32561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D1B2A"/>
                </a:solidFill>
                <a:latin typeface="EB Garamond"/>
              </a:rPr>
              <a:t>Custom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5943600"/>
            <a:ext cx="325617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B8E"/>
                </a:solidFill>
                <a:latin typeface="Hanken Grotesk"/>
              </a:rPr>
              <a:t>2–10 locations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48302" y="1188720"/>
            <a:ext cx="3695090" cy="5212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48302" y="1188720"/>
            <a:ext cx="3695090" cy="12700"/>
          </a:xfrm>
          <a:prstGeom prst="rect">
            <a:avLst/>
          </a:prstGeom>
          <a:solidFill>
            <a:srgbClr val="729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67758" y="1426464"/>
            <a:ext cx="32561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AACCDB"/>
                </a:solidFill>
                <a:latin typeface="EB Garamond"/>
              </a:rPr>
              <a:t>Gold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7758" y="1810512"/>
            <a:ext cx="325617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09396"/>
                </a:solidFill>
                <a:latin typeface="Hanken Grotesk"/>
              </a:rPr>
              <a:t>Full-Service Migration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67758" y="2121408"/>
            <a:ext cx="3256178" cy="12700"/>
          </a:xfrm>
          <a:prstGeom prst="rect">
            <a:avLst/>
          </a:prstGeom>
          <a:solidFill>
            <a:srgbClr val="729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7758" y="2249424"/>
            <a:ext cx="325617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7F9"/>
                </a:solidFill>
                <a:latin typeface="Hanken Grotesk"/>
              </a:rPr>
              <a:t>End-to-end delivery. We own the technical migration from discovery to post-cutover stabilisation. Your team stays focused on retail ops.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7758" y="3218688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ACCDB"/>
                </a:solidFill>
                <a:latin typeface="Hanken Grotesk"/>
              </a:rPr>
              <a:t>–  Everything in Silver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7758" y="3557016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9396"/>
                </a:solidFill>
                <a:latin typeface="Hanken Grotesk"/>
              </a:rPr>
              <a:t>–  Technical migration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7758" y="3895344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9396"/>
                </a:solidFill>
                <a:latin typeface="Hanken Grotesk"/>
              </a:rPr>
              <a:t>–  140+ scenario 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7758" y="4233672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9396"/>
                </a:solidFill>
                <a:latin typeface="Hanken Grotesk"/>
              </a:rPr>
              <a:t>–  Hypercare (30 days)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7758" y="5596128"/>
            <a:ext cx="32561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AACCDB"/>
                </a:solidFill>
                <a:latin typeface="EB Garamond"/>
              </a:rPr>
              <a:t>Custom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7758" y="5943600"/>
            <a:ext cx="325617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298AA"/>
                </a:solidFill>
                <a:latin typeface="Hanken Grotesk"/>
              </a:rPr>
              <a:t>5–20 locations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93684" y="1188720"/>
            <a:ext cx="3695090" cy="5212080"/>
          </a:xfrm>
          <a:prstGeom prst="rect">
            <a:avLst/>
          </a:prstGeom>
          <a:solidFill>
            <a:srgbClr val="0E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93684" y="1188720"/>
            <a:ext cx="3695090" cy="12700"/>
          </a:xfrm>
          <a:prstGeom prst="rect">
            <a:avLst/>
          </a:prstGeom>
          <a:solidFill>
            <a:srgbClr val="525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3140" y="1426464"/>
            <a:ext cx="32561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5F7F9"/>
                </a:solidFill>
                <a:latin typeface="EB Garamond"/>
              </a:rPr>
              <a:t>Diamond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3140" y="1810512"/>
            <a:ext cx="325617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09396"/>
                </a:solidFill>
                <a:latin typeface="Hanken Grotesk"/>
              </a:rPr>
              <a:t>Enterprise Multi-Site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13140" y="2121408"/>
            <a:ext cx="3256178" cy="12700"/>
          </a:xfrm>
          <a:prstGeom prst="rect">
            <a:avLst/>
          </a:prstGeom>
          <a:solidFill>
            <a:srgbClr val="5254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3140" y="2249424"/>
            <a:ext cx="3256178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5F7F9"/>
                </a:solidFill>
                <a:latin typeface="Hanken Grotesk"/>
              </a:rPr>
              <a:t>Purpose-built for multi-banner or franchise operators migrating across regions. Dedicated pod, phased rollout, executive reporting.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3140" y="3218688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5F7F9"/>
                </a:solidFill>
                <a:latin typeface="Hanken Grotesk"/>
              </a:rPr>
              <a:t>–  Everything in Gold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3140" y="3557016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9396"/>
                </a:solidFill>
                <a:latin typeface="Hanken Grotesk"/>
              </a:rPr>
              <a:t>–  Multi-site coordination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13140" y="3895344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9396"/>
                </a:solidFill>
                <a:latin typeface="Hanken Grotesk"/>
              </a:rPr>
              <a:t>–  Dedicated migration pod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3140" y="4233672"/>
            <a:ext cx="325617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9396"/>
                </a:solidFill>
                <a:latin typeface="Hanken Grotesk"/>
              </a:rPr>
              <a:t>–  Executive status reporting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3140" y="5596128"/>
            <a:ext cx="325617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5F7F9"/>
                </a:solidFill>
                <a:latin typeface="EB Garamond"/>
              </a:rPr>
              <a:t>Custom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3140" y="5943600"/>
            <a:ext cx="325617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25456"/>
                </a:solidFill>
                <a:latin typeface="Hanken Grotesk"/>
              </a:rPr>
              <a:t>20+ locations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473952"/>
            <a:ext cx="1118585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88B8E"/>
                </a:solidFill>
                <a:latin typeface="Hanken Grotesk"/>
              </a:rPr>
              <a:t>All engagements begin with a $1,000 Blueprint. Fee is credited in full toward Gold or Diamond.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734495" y="658368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888B8E"/>
                </a:solidFill>
                <a:latin typeface="Hanken Grotesk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A8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53812" y="0"/>
            <a:ext cx="6837883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75488"/>
            <a:ext cx="4709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D47A77"/>
                </a:solidFill>
                <a:latin typeface="Hanken Grotesk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87552"/>
            <a:ext cx="470915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00"/>
              </a:lnSpc>
            </a:pPr>
            <a:r>
              <a:rPr sz="3800" b="0" i="1">
                <a:solidFill>
                  <a:srgbClr val="F5F7F9"/>
                </a:solidFill>
                <a:latin typeface="EB Garamond"/>
              </a:rPr>
              <a:t>Start with
the Blueprint.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816352"/>
            <a:ext cx="470915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0BBB9"/>
                </a:solidFill>
                <a:latin typeface="Hanken Grotesk"/>
              </a:rPr>
              <a:t>Book a 30-minute scoping call. We'll assess your current environment and confirm whether you're a fit — no obligation.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703320"/>
            <a:ext cx="2377440" cy="493776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3794759"/>
            <a:ext cx="21579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201A"/>
                </a:solidFill>
                <a:latin typeface="Hanken Grotesk"/>
              </a:rPr>
              <a:t>BOOK THE BLUEPRINT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407408"/>
            <a:ext cx="4709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0BBB9"/>
                </a:solidFill>
                <a:latin typeface="Hanken Grotesk"/>
              </a:rPr>
              <a:t>info@kaizencommerce.ca  ·  kaizencommerce.ca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4773168"/>
            <a:ext cx="4709159" cy="12700"/>
          </a:xfrm>
          <a:prstGeom prst="rect">
            <a:avLst/>
          </a:prstGeom>
          <a:solidFill>
            <a:srgbClr val="C05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4919472"/>
            <a:ext cx="470915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D47A77"/>
                </a:solidFill>
                <a:latin typeface="Hanken Grotesk"/>
              </a:rPr>
              <a:t>$1,000 · 7-day turnaround · Credited toward full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1012" y="475488"/>
            <a:ext cx="6243523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298AA"/>
                </a:solidFill>
                <a:latin typeface="Hanken Grotesk"/>
              </a:rPr>
              <a:t>HOW IT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1012" y="1024128"/>
            <a:ext cx="62435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CCDB"/>
                </a:solidFill>
                <a:latin typeface="Hanken Grotesk"/>
              </a:rPr>
              <a:t>01 — Book the Blueprint call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1012" y="1298448"/>
            <a:ext cx="624352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9396"/>
                </a:solidFill>
                <a:latin typeface="Hanken Grotesk"/>
              </a:rPr>
              <a:t>Fill in the 2-minute intake form at kaizencommerce.ca. We review your situation and confirm scope before charging anything.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1012" y="1956816"/>
            <a:ext cx="62435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CCDB"/>
                </a:solidFill>
                <a:latin typeface="Hanken Grotesk"/>
              </a:rPr>
              <a:t>02 — Discovery &amp; mapping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11012" y="2231136"/>
            <a:ext cx="624352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9396"/>
                </a:solidFill>
                <a:latin typeface="Hanken Grotesk"/>
              </a:rPr>
              <a:t>One structured session with your ops and IT leads. We audit your current POS, catalogue, and integration stack.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1012" y="2889504"/>
            <a:ext cx="62435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CCDB"/>
                </a:solidFill>
                <a:latin typeface="Hanken Grotesk"/>
              </a:rPr>
              <a:t>03 — Blueprint delivered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1012" y="3163824"/>
            <a:ext cx="624352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9396"/>
                </a:solidFill>
                <a:latin typeface="Hanken Grotesk"/>
              </a:rPr>
              <a:t>Within 7 business days: system map, risk register, and phased rollout path — in writing, yours to keep.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11012" y="3822191"/>
            <a:ext cx="6243523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ACCDB"/>
                </a:solidFill>
                <a:latin typeface="Hanken Grotesk"/>
              </a:rPr>
              <a:t>04 — Decide your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11012" y="4096511"/>
            <a:ext cx="6243523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09396"/>
                </a:solidFill>
                <a:latin typeface="Hanken Grotesk"/>
              </a:rPr>
              <a:t>Keep the blueprint and execute in-house, or apply the fee toward a full-service engagement. No pressure either way.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34495" y="6583680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525456"/>
                </a:solidFill>
                <a:latin typeface="Hanken Grotesk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